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96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イ　ジェイル" userId="efae30d6-81c1-4d5a-a133-881adcf56852" providerId="ADAL" clId="{E98311A1-E05E-4385-856B-748057B8556F}"/>
    <pc:docChg chg="undo custSel modSld">
      <pc:chgData name="イ　ジェイル" userId="efae30d6-81c1-4d5a-a133-881adcf56852" providerId="ADAL" clId="{E98311A1-E05E-4385-856B-748057B8556F}" dt="2026-10-19T04:26:18.598" v="4" actId="13926"/>
      <pc:docMkLst>
        <pc:docMk/>
      </pc:docMkLst>
      <pc:sldChg chg="modSp mod">
        <pc:chgData name="イ　ジェイル" userId="efae30d6-81c1-4d5a-a133-881adcf56852" providerId="ADAL" clId="{E98311A1-E05E-4385-856B-748057B8556F}" dt="2026-10-19T04:26:18.598" v="4" actId="13926"/>
        <pc:sldMkLst>
          <pc:docMk/>
          <pc:sldMk cId="0" sldId="257"/>
        </pc:sldMkLst>
        <pc:spChg chg="mod">
          <ac:chgData name="イ　ジェイル" userId="efae30d6-81c1-4d5a-a133-881adcf56852" providerId="ADAL" clId="{E98311A1-E05E-4385-856B-748057B8556F}" dt="2026-10-19T04:26:18.598" v="4" actId="1392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イ　ジェイル" userId="efae30d6-81c1-4d5a-a133-881adcf56852" providerId="ADAL" clId="{E98311A1-E05E-4385-856B-748057B8556F}" dt="2026-10-19T01:51:57.480" v="1" actId="1076"/>
        <pc:sldMkLst>
          <pc:docMk/>
          <pc:sldMk cId="0" sldId="258"/>
        </pc:sldMkLst>
        <pc:spChg chg="mod">
          <ac:chgData name="イ　ジェイル" userId="efae30d6-81c1-4d5a-a133-881adcf56852" providerId="ADAL" clId="{E98311A1-E05E-4385-856B-748057B8556F}" dt="2026-10-19T01:51:57.480" v="1" actId="1076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イ　ジェイル" userId="efae30d6-81c1-4d5a-a133-881adcf56852" providerId="ADAL" clId="{E98311A1-E05E-4385-856B-748057B8556F}" dt="2026-10-19T04:04:48.311" v="3" actId="1076"/>
        <pc:sldMkLst>
          <pc:docMk/>
          <pc:sldMk cId="0" sldId="260"/>
        </pc:sldMkLst>
        <pc:spChg chg="mod">
          <ac:chgData name="イ　ジェイル" userId="efae30d6-81c1-4d5a-a133-881adcf56852" providerId="ADAL" clId="{E98311A1-E05E-4385-856B-748057B8556F}" dt="2026-10-19T04:04:48.311" v="3" actId="1076"/>
          <ac:spMkLst>
            <pc:docMk/>
            <pc:sldMk cId="0" sldId="260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Malgun Gothic"/>
              </a:rPr>
              <a:t>AI Team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DBEAFE"/>
                </a:solidFill>
                <a:latin typeface="Malgun Gothic"/>
              </a:rPr>
              <a:t>다음 주 출근·재택 예정 공유 &amp; 출근 쏠림 자동 분석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6B7280"/>
                </a:solidFill>
                <a:latin typeface="Malgun Gothic"/>
              </a:rPr>
              <a:t>React + NestJS + PostgreSQL  |  해커톤 발표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무엇을 만들었나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3716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E2A4A"/>
                </a:solidFill>
                <a:latin typeface="Malgun Gothic"/>
              </a:rPr>
              <a:t>“다음 주 팀원들의 출근/재택 예정을 공유하고,</a:t>
            </a: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rgbClr val="1E2A4A"/>
                </a:solidFill>
                <a:latin typeface="Malgun Gothic"/>
              </a:rPr>
              <a:t>관리자가 출근 인원의 쏠림(과다·과소)을 자동 감지해 오피스 가동을 최적화한다.”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563EB"/>
                </a:solidFill>
                <a:latin typeface="Malgun Gothic"/>
              </a:rPr>
              <a:t>해결하려는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394960" cy="170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dirty="0">
                <a:solidFill>
                  <a:srgbClr val="1F2937"/>
                </a:solidFill>
                <a:latin typeface="Malgun Gothic"/>
              </a:rPr>
              <a:t>•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하이브리드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근무로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'</a:t>
            </a:r>
            <a:r>
              <a:rPr sz="1600" dirty="0" err="1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누가</a:t>
            </a:r>
            <a:r>
              <a:rPr sz="1600" dirty="0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언제</a:t>
            </a:r>
            <a:r>
              <a:rPr sz="1600" dirty="0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출근하는지</a:t>
            </a:r>
            <a:r>
              <a:rPr sz="1600" dirty="0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' </a:t>
            </a:r>
            <a:r>
              <a:rPr sz="1600" dirty="0" err="1">
                <a:solidFill>
                  <a:srgbClr val="1F2937"/>
                </a:solidFill>
                <a:highlight>
                  <a:srgbClr val="FFFF00"/>
                </a:highlight>
                <a:latin typeface="Malgun Gothic"/>
              </a:rPr>
              <a:t>파악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이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어려움</a:t>
            </a:r>
            <a:endParaRPr sz="1600" dirty="0">
              <a:solidFill>
                <a:srgbClr val="1F2937"/>
              </a:solidFill>
              <a:latin typeface="Malgun Gothic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dirty="0">
                <a:solidFill>
                  <a:srgbClr val="1F2937"/>
                </a:solidFill>
                <a:latin typeface="Malgun Gothic"/>
              </a:rPr>
              <a:t>•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특정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요일에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자리가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몰리거나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(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혼잡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), 텅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비어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(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비효율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)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공간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낭비</a:t>
            </a:r>
            <a:endParaRPr sz="1600" dirty="0">
              <a:solidFill>
                <a:srgbClr val="1F2937"/>
              </a:solidFill>
              <a:latin typeface="Malgun Gothic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dirty="0">
                <a:solidFill>
                  <a:srgbClr val="1F2937"/>
                </a:solidFill>
                <a:latin typeface="Malgun Gothic"/>
              </a:rPr>
              <a:t>•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관리자가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출근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현황을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수작업으로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집계</a:t>
            </a:r>
            <a:endParaRPr sz="1600" dirty="0">
              <a:solidFill>
                <a:srgbClr val="1F2937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6A34A"/>
                </a:solidFill>
                <a:latin typeface="Malgun Gothic"/>
              </a:rPr>
              <a:t>제공하는 가치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5661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dirty="0">
                <a:solidFill>
                  <a:srgbClr val="1F2937"/>
                </a:solidFill>
                <a:latin typeface="Malgun Gothic"/>
              </a:rPr>
              <a:t>• 팀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캘린더로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한눈에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주간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출근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현황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공유</a:t>
            </a:r>
            <a:endParaRPr sz="1600" dirty="0">
              <a:solidFill>
                <a:srgbClr val="1F2937"/>
              </a:solidFill>
              <a:latin typeface="Malgun Gothic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dirty="0">
                <a:solidFill>
                  <a:srgbClr val="1F2937"/>
                </a:solidFill>
                <a:latin typeface="Malgun Gothic"/>
              </a:rPr>
              <a:t>•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출근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상한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/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하한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임계치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기반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과밀·과소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자동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경고</a:t>
            </a:r>
            <a:endParaRPr sz="1600" dirty="0">
              <a:solidFill>
                <a:srgbClr val="1F2937"/>
              </a:solidFill>
              <a:latin typeface="Malgun Gothic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dirty="0">
                <a:solidFill>
                  <a:srgbClr val="1F2937"/>
                </a:solidFill>
                <a:latin typeface="Malgun Gothic"/>
              </a:rPr>
              <a:t>•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출근율·출근자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명단을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관리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대시보드로</a:t>
            </a:r>
            <a:r>
              <a:rPr sz="16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Malgun Gothic"/>
              </a:rPr>
              <a:t>가시화</a:t>
            </a:r>
            <a:endParaRPr sz="1600" dirty="0">
              <a:solidFill>
                <a:srgbClr val="1F2937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200400" cy="1463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</a:rPr>
              <a:t>프론트엔드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React 18 + Vite + TS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Tailwind CSS  (:5173)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3200400" cy="146304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</a:rPr>
              <a:t>백엔드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NestJS + TypeScript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모든 경로 /api  (:3000)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011680"/>
            <a:ext cx="3200400" cy="146304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224028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</a:rPr>
              <a:t>데이터베이스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7889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PostgreSQL + TypeORM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(:5432)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10312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103120"/>
            <a:ext cx="777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dirty="0">
                <a:solidFill>
                  <a:srgbClr val="6B7280"/>
                </a:solidFill>
                <a:latin typeface="Malgun Gothic"/>
              </a:rPr>
              <a:t>fetch + Authorization: Bearer &lt;JWT&gt; </a:t>
            </a:r>
            <a:r>
              <a:rPr sz="1200" b="0" dirty="0" err="1">
                <a:solidFill>
                  <a:srgbClr val="6B7280"/>
                </a:solidFill>
                <a:latin typeface="Malgun Gothic"/>
              </a:rPr>
              <a:t>자동</a:t>
            </a:r>
            <a:r>
              <a:rPr sz="1200" b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</a:rPr>
              <a:t>첨부</a:t>
            </a:r>
            <a:r>
              <a:rPr sz="1200" b="0" dirty="0">
                <a:solidFill>
                  <a:srgbClr val="6B7280"/>
                </a:solidFill>
                <a:latin typeface="Malgun Gothic"/>
              </a:rPr>
              <a:t>            </a:t>
            </a:r>
            <a:r>
              <a:rPr sz="1200" b="0" dirty="0" err="1">
                <a:solidFill>
                  <a:srgbClr val="6B7280"/>
                </a:solidFill>
                <a:latin typeface="Malgun Gothic"/>
              </a:rPr>
              <a:t>TypeORM</a:t>
            </a:r>
            <a:r>
              <a:rPr sz="1200" b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Malgun Gothic"/>
              </a:rPr>
              <a:t>쿼리</a:t>
            </a:r>
            <a:endParaRPr sz="1200" b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563EB"/>
                </a:solidFill>
                <a:latin typeface="Malgun Gothic"/>
              </a:rPr>
              <a:t>설계 특징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 dirty="0">
                <a:solidFill>
                  <a:srgbClr val="2563EB"/>
                </a:solidFill>
                <a:latin typeface="Malgun Gothic"/>
              </a:rPr>
              <a:t>● 3계층 </a:t>
            </a:r>
            <a:r>
              <a:rPr sz="1500" b="1" dirty="0" err="1">
                <a:solidFill>
                  <a:srgbClr val="2563EB"/>
                </a:solidFill>
                <a:latin typeface="Malgun Gothic"/>
              </a:rPr>
              <a:t>분리</a:t>
            </a:r>
            <a:r>
              <a:rPr sz="1500" b="1" dirty="0">
                <a:solidFill>
                  <a:srgbClr val="2563EB"/>
                </a:solidFill>
                <a:latin typeface="Malgun Gothic"/>
              </a:rPr>
              <a:t>: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얇은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Controller → Service(DB/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정형화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) →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순수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도메인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함수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(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부작용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없음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 dirty="0">
                <a:solidFill>
                  <a:srgbClr val="2563EB"/>
                </a:solidFill>
                <a:latin typeface="Malgun Gothic"/>
              </a:rPr>
              <a:t>● Docker Compose: 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frontend / backend /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postgres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3개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컨테이너를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한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번에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기동</a:t>
            </a:r>
            <a:endParaRPr sz="1500" dirty="0">
              <a:solidFill>
                <a:srgbClr val="1F2937"/>
              </a:solidFill>
              <a:latin typeface="Malgun Gothic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500" b="1" dirty="0">
                <a:solidFill>
                  <a:srgbClr val="2563EB"/>
                </a:solidFill>
                <a:latin typeface="Malgun Gothic"/>
              </a:rPr>
              <a:t>● UTC </a:t>
            </a:r>
            <a:r>
              <a:rPr sz="1500" b="1" dirty="0" err="1">
                <a:solidFill>
                  <a:srgbClr val="2563EB"/>
                </a:solidFill>
                <a:latin typeface="Malgun Gothic"/>
              </a:rPr>
              <a:t>고정</a:t>
            </a:r>
            <a:r>
              <a:rPr sz="1500" b="1" dirty="0">
                <a:solidFill>
                  <a:srgbClr val="2563EB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2563EB"/>
                </a:solidFill>
                <a:latin typeface="Malgun Gothic"/>
              </a:rPr>
              <a:t>날짜</a:t>
            </a:r>
            <a:r>
              <a:rPr sz="1500" b="1" dirty="0">
                <a:solidFill>
                  <a:srgbClr val="2563EB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2563EB"/>
                </a:solidFill>
                <a:latin typeface="Malgun Gothic"/>
              </a:rPr>
              <a:t>계산</a:t>
            </a:r>
            <a:r>
              <a:rPr sz="1500" b="1" dirty="0">
                <a:solidFill>
                  <a:srgbClr val="2563EB"/>
                </a:solidFill>
                <a:latin typeface="Malgun Gothic"/>
              </a:rPr>
              <a:t>: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타임존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off-by-one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버그를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원천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차단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,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결정론적</a:t>
            </a:r>
            <a:r>
              <a:rPr sz="150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Malgun Gothic"/>
              </a:rPr>
              <a:t>결과</a:t>
            </a:r>
            <a:endParaRPr sz="1500" dirty="0">
              <a:solidFill>
                <a:srgbClr val="1F2937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프론트엔드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56616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React 18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Vite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TypeScript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TailwindCSS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React Router v6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66160" cy="73152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백엔드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86000"/>
            <a:ext cx="356616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NestJS 10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TypeScript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TypeORM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class-validator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JWT (@nestjs/jwt)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66160" cy="7315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46304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데이터 / 인증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3566160" cy="3291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PostgreSQL 16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bcrypt (해싱)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자체 발행 JWT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Docker Compose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Malgun Gothic"/>
              </a:rPr>
              <a:t>• Jest (테스트)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권한 체계 — 역할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6B7280"/>
                </a:solidFill>
                <a:latin typeface="Malgun Gothic"/>
              </a:rPr>
              <a:t>employee (직원)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본인 근무 예정 등록/조회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팀 캘린더 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56616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6616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D97706"/>
                </a:solidFill>
                <a:latin typeface="Malgun Gothic"/>
              </a:rPr>
              <a:t>team_admin (팀 관리자)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직원 기능 +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대시보드/AI 분석 조회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멤버 팀 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54480"/>
            <a:ext cx="356616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dirty="0" err="1">
                <a:solidFill>
                  <a:srgbClr val="2563EB"/>
                </a:solidFill>
                <a:latin typeface="Malgun Gothic"/>
              </a:rPr>
              <a:t>super_admin</a:t>
            </a:r>
            <a:r>
              <a:rPr sz="1600" b="1" dirty="0">
                <a:solidFill>
                  <a:srgbClr val="2563EB"/>
                </a:solidFill>
                <a:latin typeface="Malgun Gothic"/>
              </a:rPr>
              <a:t> (</a:t>
            </a:r>
            <a:r>
              <a:rPr sz="1600" b="1" dirty="0" err="1">
                <a:solidFill>
                  <a:srgbClr val="2563EB"/>
                </a:solidFill>
                <a:latin typeface="Malgun Gothic"/>
              </a:rPr>
              <a:t>최상위</a:t>
            </a:r>
            <a:r>
              <a:rPr sz="1600" b="1" dirty="0">
                <a:solidFill>
                  <a:srgbClr val="2563E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2563EB"/>
                </a:solidFill>
                <a:latin typeface="Malgun Gothic"/>
              </a:rPr>
              <a:t>관리자</a:t>
            </a:r>
            <a:r>
              <a:rPr sz="1600" b="1" dirty="0">
                <a:solidFill>
                  <a:srgbClr val="2563EB"/>
                </a:solidFill>
                <a:latin typeface="Malgun Gothic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모든 기능 +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역할 변경 · 비밀번호 재설정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팀 생성/삭제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1064240" cy="12801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이중 권한 제어 — 서버(JwtAuthGuard → RolesGuard)와 클라이언트(ProtectedRoute)</a:t>
            </a: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양쪽에서 역할을 검증. 메뉴 자체도 역할에 따라 노출/숨김 처리.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핵심 도메인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9496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</a:rPr>
              <a:t>Target_Week (타깃 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기준일로부터 '다음 주 월~금' 평일 5일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토·일은 항상 제외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모든 계산을 UTC로 고정 → 타임존 버그 방지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예정 등록·캘린더·분석 모두 이 주간을 대상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41148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94960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394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Occupancy_Count (출근 인원 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특정 날짜에 'office(출근)'로 등록한 사람 수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평균이 아니라 '카운트(개수)'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대시보드·AI 분석의 모든 판정 기준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Malgun Gothic"/>
              </a:rPr>
              <a:t>• 출근율 = officeCount / 전체등록자 ×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화면 구성 — 8개 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09728" cy="10515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① 로그인 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이메일/비밀번호 인증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109728" cy="10515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② 회원가입 /register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가입 후 자동 로그인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1576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③ 팀 캘린더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3639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주간 출근 현황 표 (전체)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0604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71576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④ 근무 예정 /schedule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3639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다음 주 출근/재택 즉시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84048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95020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⑤ 대시보드 /dashboard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7083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출근율·명단·임계치 (관리자)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4048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109728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95020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⑥ AI 분석 /analysis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7083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과다/과소 자동 경고 (관리자)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7492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18464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⑦ 사용자 관리 /admin/users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0527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팀 배정·역할·비번 (관리자)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74920"/>
            <a:ext cx="544068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5074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5184648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2A4A"/>
                </a:solidFill>
                <a:latin typeface="Malgun Gothic"/>
              </a:rPr>
              <a:t>⑧ 팀 관리 /admin/teams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05272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</a:rPr>
              <a:t>팀 생성/삭제 (최상위)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사용자 흐름 (데모 시나리오)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563EB"/>
                </a:solidFill>
                <a:latin typeface="Malgun Gothic"/>
              </a:rPr>
              <a:t>직원 (Employee)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310896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457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10896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근무 예정 등록 (/schedule)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457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920240"/>
            <a:ext cx="310896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92024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팀 캘린더에서 전체 확인 (/)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D97706"/>
                </a:solidFill>
                <a:latin typeface="Malgun Gothic"/>
              </a:rPr>
              <a:t>관리자 (Admin)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2468880" cy="8229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E2A4A"/>
                </a:solidFill>
                <a:latin typeface="Malgun Gothic"/>
              </a:rPr>
              <a:t>로그인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49039"/>
            <a:ext cx="320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749039"/>
            <a:ext cx="2468880" cy="8229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3749039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E2A4A"/>
                </a:solidFill>
                <a:latin typeface="Malgun Gothic"/>
              </a:rPr>
              <a:t>대시보드 확인·임계치 설정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749039"/>
            <a:ext cx="320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2468880" cy="8229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749039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E2A4A"/>
                </a:solidFill>
                <a:latin typeface="Malgun Gothic"/>
              </a:rPr>
              <a:t>AI 분석 실행 → 경고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49039"/>
            <a:ext cx="320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6B7280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749039"/>
            <a:ext cx="2468880" cy="8229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40" y="3749039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E2A4A"/>
                </a:solidFill>
                <a:latin typeface="Malgun Gothic"/>
              </a:rPr>
              <a:t>팀·사용자 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1064240" cy="1005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dirty="0" err="1">
                <a:solidFill>
                  <a:srgbClr val="1F2937"/>
                </a:solidFill>
                <a:latin typeface="Malgun Gothic"/>
              </a:rPr>
              <a:t>기본</a:t>
            </a:r>
            <a:r>
              <a:rPr sz="1500" b="1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1F2937"/>
                </a:solidFill>
                <a:latin typeface="Malgun Gothic"/>
              </a:rPr>
              <a:t>관리자</a:t>
            </a:r>
            <a:r>
              <a:rPr sz="1500" b="1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1F2937"/>
                </a:solidFill>
                <a:latin typeface="Malgun Gothic"/>
              </a:rPr>
              <a:t>계정</a:t>
            </a:r>
            <a:r>
              <a:rPr sz="1500" b="1" dirty="0">
                <a:solidFill>
                  <a:srgbClr val="1F2937"/>
                </a:solidFill>
                <a:latin typeface="Malgun Gothic"/>
              </a:rPr>
              <a:t>(</a:t>
            </a:r>
            <a:r>
              <a:rPr sz="1500" b="1" dirty="0" err="1">
                <a:solidFill>
                  <a:srgbClr val="1F2937"/>
                </a:solidFill>
                <a:latin typeface="Malgun Gothic"/>
              </a:rPr>
              <a:t>시드</a:t>
            </a:r>
            <a:r>
              <a:rPr sz="1500" b="1" dirty="0">
                <a:solidFill>
                  <a:srgbClr val="1F2937"/>
                </a:solidFill>
                <a:latin typeface="Malgun Gothic"/>
              </a:rPr>
              <a:t>): admin@example.com / Passw0rd!  (</a:t>
            </a:r>
            <a:r>
              <a:rPr sz="1500" b="1" dirty="0" err="1">
                <a:solidFill>
                  <a:srgbClr val="1F2937"/>
                </a:solidFill>
                <a:latin typeface="Malgun Gothic"/>
              </a:rPr>
              <a:t>super_admin</a:t>
            </a:r>
            <a:r>
              <a:rPr sz="1500" b="1" dirty="0">
                <a:solidFill>
                  <a:srgbClr val="1F2937"/>
                </a:solidFill>
                <a:latin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AI 분석 — 어떻게 동작하나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73152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임계치 기반 규칙 엔진 — 관리자가 정한 상한/하한으로 출근 쏠림을 자동 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563EB"/>
                </a:solidFill>
                <a:latin typeface="Malgun Gothic"/>
              </a:rPr>
              <a:t>실행 4단계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539496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1. 대상 주간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Malgun Gothic"/>
              </a:rPr>
              <a:t>서버 오늘(UTC) 기준 다음 주 월~금 5일 계산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9496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2. 근무 예정 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Malgun Gothic"/>
              </a:rPr>
              <a:t>조직 전체 Schedule 레코드를 읽기 전용으로 조회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39496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59943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3. 임계치 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Malgun Gothic"/>
              </a:rPr>
              <a:t>관리자 설정 상한(upper)·하한(lower) 가져오기 (기본 70/30)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94960"/>
            <a:ext cx="539496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46811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4.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Malgun Gothic"/>
              </a:rPr>
              <a:t>각 날짜 출근자 수를 상한/하한과 비교해 경고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788920"/>
            <a:ext cx="5303520" cy="333756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01752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각 날짜(월~금):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  occupancyCount = 그날 출근자 수</a:t>
            </a:r>
          </a:p>
          <a:p>
            <a:pPr algn="l">
              <a:lnSpc>
                <a:spcPct val="115000"/>
              </a:lnSpc>
            </a:pPr>
            <a:endParaRPr sz="1400" b="0">
              <a:solidFill>
                <a:srgbClr val="8BE9A0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  if occupancyCount &gt;= upper: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      → 출근 과다 경고 (over)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  if occupancyCount &lt;= lower: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      → 출근 과소 경고 (under)</a:t>
            </a:r>
          </a:p>
          <a:p>
            <a:pPr algn="l">
              <a:lnSpc>
                <a:spcPct val="115000"/>
              </a:lnSpc>
            </a:pPr>
            <a:endParaRPr sz="1400" b="0">
              <a:solidFill>
                <a:srgbClr val="8BE9A0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E9A0"/>
                </a:solidFill>
                <a:latin typeface="Consolas"/>
              </a:rPr>
              <a:t>  요약표에 {출근, 재택} 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AI 분석 — 예상 질문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2A4A"/>
                </a:solidFill>
                <a:latin typeface="Malgun Gothic"/>
              </a:rPr>
              <a:t>Q. 머신러닝 모델인가요?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아니요. 규칙 기반 조건 판정(if)입니다. 블랙박스가 아닌 투명·재현 가능한 방식.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614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2A4A"/>
                </a:solidFill>
                <a:latin typeface="Malgun Gothic"/>
              </a:rPr>
              <a:t>Q. 그냥 평균 아닌가요?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아니요. 출근자 '수를 세어(count)' 관리자가 정한 상한/하한과 '비교'합니다.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2A4A"/>
                </a:solidFill>
                <a:latin typeface="Malgun Gothic"/>
              </a:rPr>
              <a:t>Q. 왜 즉시 결과가 나오나요?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5일치 가벼운 비교 연산뿐. 모델 추론·외부 호출이 없어 밀리초 단위 응답.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2920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09728" cy="1051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2A4A"/>
                </a:solidFill>
                <a:latin typeface="Malgun Gothic"/>
              </a:rPr>
              <a:t>Q. 그럼 가치가 있나요?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77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Malgun Gothic"/>
              </a:rPr>
              <a:t>결과가 투명·설명 가능. 판정부만 교체하면 ML 예측으로 확장 가능한 구조.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데이터 모델 (테이블 4개)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9748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6974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331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id, email, password_hash,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name, role, team_id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→ Team에 N:1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645920"/>
            <a:ext cx="2697480" cy="731520"/>
          </a:xfrm>
          <a:prstGeom prst="round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2" y="164592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468880"/>
            <a:ext cx="26974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2697480"/>
            <a:ext cx="2331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id, name, leader_id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→ User를 1:N 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45920"/>
            <a:ext cx="2697480" cy="7315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64592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2468880"/>
            <a:ext cx="26974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2697480"/>
            <a:ext cx="2331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id, user_id, date,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work_location(office/remote)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(user_id,date) 복합 유니크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9136" y="1645920"/>
            <a:ext cx="2697480" cy="7315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89136" y="164592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ThresholdSetting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2468880"/>
            <a:ext cx="26974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72016" y="2697480"/>
            <a:ext cx="2331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upper_threshold,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lower_threshold, updated_by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Malgun Gothic"/>
              </a:rPr>
              <a:t>시스템 전체 단일 레코드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6424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A4A"/>
                </a:solidFill>
                <a:latin typeface="Malgun Gothic"/>
              </a:rPr>
              <a:t>(user_id, date) 복합 유니크 제약 → '한 사람이 한 날짜에 1건'을 DB가 보장 (upsert의 근거)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설계상의 강점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DBEAFE"/>
                </a:solidFill>
                <a:latin typeface="Malgun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Malgun Gothic"/>
              </a:rPr>
              <a:t>● 3계층 분리 </a:t>
            </a:r>
            <a:r>
              <a:rPr sz="1800">
                <a:solidFill>
                  <a:srgbClr val="1F2937"/>
                </a:solidFill>
                <a:latin typeface="Malgun Gothic"/>
              </a:rPr>
              <a:t>— Controller / Service / 순수 도메인 함수로 로직 중복 제거, 테스트 용이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Malgun Gothic"/>
              </a:rPr>
              <a:t>● 단일 정보원(SSOT) </a:t>
            </a:r>
            <a:r>
              <a:rPr sz="1800">
                <a:solidFill>
                  <a:srgbClr val="1F2937"/>
                </a:solidFill>
                <a:latin typeface="Malgun Gothic"/>
              </a:rPr>
              <a:t>— 역할·근무구분 enum, 임계치, 집계 로직을 한 곳에 집약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Malgun Gothic"/>
              </a:rPr>
              <a:t>● 결정론적 날짜 계산 </a:t>
            </a:r>
            <a:r>
              <a:rPr sz="1800">
                <a:solidFill>
                  <a:srgbClr val="1F2937"/>
                </a:solidFill>
                <a:latin typeface="Malgun Gothic"/>
              </a:rPr>
              <a:t>— 모든 날짜를 UTC로 고정, 타임존 off-by-one 버그 차단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Malgun Gothic"/>
              </a:rPr>
              <a:t>● 분석 읽기 전용 보장 </a:t>
            </a:r>
            <a:r>
              <a:rPr sz="1800">
                <a:solidFill>
                  <a:srgbClr val="1F2937"/>
                </a:solidFill>
                <a:latin typeface="Malgun Gothic"/>
              </a:rPr>
              <a:t>— 몇 번을 실행해도 데이터가 변하지 않아 안전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Malgun Gothic"/>
              </a:rPr>
              <a:t>● 이중 권한 제어 </a:t>
            </a:r>
            <a:r>
              <a:rPr sz="1800">
                <a:solidFill>
                  <a:srgbClr val="1F2937"/>
                </a:solidFill>
                <a:latin typeface="Malgun Gothic"/>
              </a:rPr>
              <a:t>— 서버 가드 + 클라이언트 라우트 양쪽에서 역할 검증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563EB"/>
                </a:solidFill>
                <a:latin typeface="Malgun Gothic"/>
              </a:rPr>
              <a:t>● 보안 기본기 </a:t>
            </a:r>
            <a:r>
              <a:rPr sz="1800">
                <a:solidFill>
                  <a:srgbClr val="1F2937"/>
                </a:solidFill>
                <a:latin typeface="Malgun Gothic"/>
              </a:rPr>
              <a:t>— bcrypt 해싱, 로그인 실패 시 계정 추측 방지 동일 메시지, 자체 JWT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DBEAFE"/>
                </a:solidFill>
                <a:latin typeface="Malgun Gothic"/>
              </a:rPr>
              <a:t>AI Team Planner — 출근 쏠림을 미리 보고, 공간을 똑똑하게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1083</Words>
  <Application>Microsoft Office PowerPoint</Application>
  <PresentationFormat>ワイド画面</PresentationFormat>
  <Paragraphs>174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Malgun Gothic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イ　ジェイル</cp:lastModifiedBy>
  <cp:revision>1</cp:revision>
  <dcterms:created xsi:type="dcterms:W3CDTF">2013-01-27T09:14:16Z</dcterms:created>
  <dcterms:modified xsi:type="dcterms:W3CDTF">2026-10-19T04:26:24Z</dcterms:modified>
  <cp:category/>
</cp:coreProperties>
</file>